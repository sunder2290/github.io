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62895" cy="466344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843"/>
                </a:solidFill>
              </a:defRPr>
            </a:pPr>
            <a:r>
              <a:t>КГКП «Жезказганский высший политехнический колледж»</a:t>
            </a:r>
          </a:p>
          <a:p>
            <a:pPr>
              <a:spcAft>
                <a:spcPts val="2000"/>
              </a:spcAft>
              <a:defRPr sz="1400">
                <a:solidFill>
                  <a:srgbClr val="AAB9CD"/>
                </a:solidFill>
              </a:defRPr>
            </a:pPr>
            <a:r>
              <a:t>Специальность: Программное обеспечение</a:t>
            </a:r>
          </a:p>
          <a:p>
            <a:pPr>
              <a:spcAft>
                <a:spcPts val="3000"/>
              </a:spcAft>
              <a:defRPr sz="3000" b="1">
                <a:solidFill>
                  <a:srgbClr val="FFFFFF"/>
                </a:solidFill>
              </a:defRPr>
            </a:pPr>
            <a:r>
              <a:t>Бизнес-модель «Онлайн-школа по программированию Синтаксис»</a:t>
            </a:r>
          </a:p>
          <a:p>
            <a:pPr>
              <a:spcAft>
                <a:spcPts val="1500"/>
              </a:spcAft>
              <a:defRPr sz="1400">
                <a:solidFill>
                  <a:srgbClr val="F5F7FA"/>
                </a:solidFill>
              </a:defRPr>
            </a:pPr>
            <a:r>
              <a:t>Выполнили студенты группы ПО-32:</a:t>
            </a:r>
            <a:br/>
            <a:r>
              <a:t>Церр Данил, Деревянко Илья, Захарко Ильяс, Рахимбаева Назгуль</a:t>
            </a:r>
          </a:p>
          <a:p>
            <a:pPr>
              <a:defRPr sz="1300">
                <a:solidFill>
                  <a:srgbClr val="1A8A8A"/>
                </a:solidFill>
              </a:defRPr>
            </a:pPr>
            <a:r>
              <a:t>Проверила: преподаватель Айтжанова А. А.</a:t>
            </a:r>
            <a:br/>
            <a:r>
              <a:t>Жезказган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Ключевые ценности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82296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3"/>
                </a:solidFill>
              </a:defRPr>
            </a:pPr>
            <a:r>
              <a:t>💳 Гибкая система оплаты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Ежемесячная или разовая подписка, делающая обучение доступным и удобным для семей с любым бюджетом.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10728655" cy="82296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3"/>
                </a:solidFill>
              </a:defRPr>
            </a:pPr>
            <a:r>
              <a:t>🔍 Полная прозрачность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Открытый доступ к материалам, четкие критерии оценки и регулярный контроль прогресса.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10728655" cy="82296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3"/>
                </a:solidFill>
              </a:defRPr>
            </a:pPr>
            <a:r>
              <a:t>🤝 Комфортная среда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Создание дружелюбных условий, поддерживающих мотивацию и вовлеченность каждого ученика.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26280"/>
            <a:ext cx="10728655" cy="82296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3"/>
                </a:solidFill>
              </a:defRPr>
            </a:pPr>
            <a:r>
              <a:t>🏆 Практика &amp; Хакатоны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Мотивация студентов проверять полученные навыки на реальных командных хакатонах и соревнованиях.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3"/>
                </a:solidFill>
              </a:defRPr>
            </a:pPr>
            <a:r>
              <a:t>📜 Подлинные сертификаты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Выдача персонального сертификата с верификацией подлинности через QR-код.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Сегменты потребителей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4A843"/>
                </a:solidFill>
              </a:defRPr>
            </a:pPr>
            <a:r>
              <a:t>🎯 На старте проекта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Дети и подростки (10–18 лет)</a:t>
            </a:r>
          </a:p>
          <a:p>
            <a:pPr>
              <a:spcAft>
                <a:spcPts val="1200"/>
              </a:spcAft>
              <a:defRPr sz="1300">
                <a:solidFill>
                  <a:srgbClr val="AAB9CD"/>
                </a:solidFill>
              </a:defRPr>
            </a:pPr>
            <a:r>
              <a:t>Основная целевая аудитория, желающая освоить программирование, веб-разработку и IT-навыки.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Родители учеников</a:t>
            </a:r>
          </a:p>
          <a:p>
            <a:pPr>
              <a:spcAft>
                <a:spcPts val="1200"/>
              </a:spcAft>
              <a:defRPr sz="1300">
                <a:solidFill>
                  <a:srgbClr val="AAB9CD"/>
                </a:solidFill>
              </a:defRPr>
            </a:pPr>
            <a:r>
              <a:t>Лица, принимающие решение и оплачивающие обучение. Заинтересованы в полезном досуге и перспективной профессии для ребенка.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8A8A"/>
                </a:solidFill>
              </a:defRPr>
            </a:pPr>
            <a:r>
              <a:t>🚀 Стратегия масштабирования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Взрослая аудитория</a:t>
            </a:r>
          </a:p>
          <a:p>
            <a:pPr>
              <a:spcAft>
                <a:spcPts val="1200"/>
              </a:spcAft>
              <a:defRPr sz="1300">
                <a:solidFill>
                  <a:srgbClr val="AAB9CD"/>
                </a:solidFill>
              </a:defRPr>
            </a:pPr>
            <a:r>
              <a:t>Люди, стремящиеся сменить специальность и войти в IT-сферу с нуля.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Работа с ИИ (AI Literacy)</a:t>
            </a:r>
          </a:p>
          <a:p>
            <a:pPr>
              <a:spcAft>
                <a:spcPts val="1200"/>
              </a:spcAft>
              <a:defRPr sz="1300">
                <a:solidFill>
                  <a:srgbClr val="AAB9CD"/>
                </a:solidFill>
              </a:defRPr>
            </a:pPr>
            <a:r>
              <a:t>Курсы по грамотному применению искусственного интеллекта и нейросетей в профессиональной деятельности.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Каналы взаимодействия и Отношения с клиентами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4A843"/>
                </a:solidFill>
              </a:defRPr>
            </a:pPr>
            <a:r>
              <a:t>📢 Каналы взаимодействия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Социальные сети &amp; Сообщества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Instagram, Discord, YouTube, TikTok для охвата молодежи.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Партнерские сети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Сотрудничество со школами и вузами Казахстана.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Офлайн-продвижение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Работа промоутеров и распространение информационных материалов.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8A8A"/>
                </a:solidFill>
              </a:defRPr>
            </a:pPr>
            <a:r>
              <a:t>🤝 Отношения с клиентами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Геймификация и интерактив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Вовлечение и удержание внимания детей через интерактивный формат.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Отчетность для родителей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Ежемесячные отчеты об успеваемости и личном прогрессе каждого ребенка.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Контроль и дисциплина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Доступ к следующему месяцу открывается только после оплаты — дисциплинирует учеников и снижает отвал.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Потоки доходов и Направления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13455" cy="38404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Front-End Junior</a:t>
            </a:r>
          </a:p>
          <a:p>
            <a:pPr>
              <a:spcAft>
                <a:spcPts val="600"/>
              </a:spcAft>
              <a:defRPr sz="2000" b="1">
                <a:solidFill>
                  <a:srgbClr val="D4A843"/>
                </a:solidFill>
              </a:defRPr>
            </a:pPr>
            <a:r>
              <a:t>23 000 ₸ / мес</a:t>
            </a:r>
          </a:p>
          <a:p>
            <a:pPr>
              <a:spcAft>
                <a:spcPts val="1200"/>
              </a:spcAft>
              <a:defRPr sz="1200">
                <a:solidFill>
                  <a:srgbClr val="1A8A8A"/>
                </a:solidFill>
              </a:defRPr>
            </a:pPr>
            <a:r>
              <a:t>Длительность: 4 месяца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Основы HTML, CSS, JavaScript, верстка современных сайтов и интерактивных интерфейсов.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13455" cy="38404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UI/UX Дизайн</a:t>
            </a:r>
          </a:p>
          <a:p>
            <a:pPr>
              <a:spcAft>
                <a:spcPts val="600"/>
              </a:spcAft>
              <a:defRPr sz="2000" b="1">
                <a:solidFill>
                  <a:srgbClr val="D4A843"/>
                </a:solidFill>
              </a:defRPr>
            </a:pPr>
            <a:r>
              <a:t>19 000 ₸ / мес</a:t>
            </a:r>
          </a:p>
          <a:p>
            <a:pPr>
              <a:spcAft>
                <a:spcPts val="1200"/>
              </a:spcAft>
              <a:defRPr sz="1200">
                <a:solidFill>
                  <a:srgbClr val="1A8A8A"/>
                </a:solidFill>
              </a:defRPr>
            </a:pPr>
            <a:r>
              <a:t>Длительность: 4 месяца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Проектирование пользовательских интерфейсов, работа в Figma, проведение UX-исследований.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413455" cy="38404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Основы Python</a:t>
            </a:r>
          </a:p>
          <a:p>
            <a:pPr>
              <a:spcAft>
                <a:spcPts val="600"/>
              </a:spcAft>
              <a:defRPr sz="2000" b="1">
                <a:solidFill>
                  <a:srgbClr val="D4A843"/>
                </a:solidFill>
              </a:defRPr>
            </a:pPr>
            <a:r>
              <a:t>27 000 ₸ / мес</a:t>
            </a:r>
          </a:p>
          <a:p>
            <a:pPr>
              <a:spcAft>
                <a:spcPts val="1200"/>
              </a:spcAft>
              <a:defRPr sz="1200">
                <a:solidFill>
                  <a:srgbClr val="1A8A8A"/>
                </a:solidFill>
              </a:defRPr>
            </a:pPr>
            <a:r>
              <a:t>Длительность: 5 месяцев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Базовое программирование, алгоритмы, работа с данными и создание консольных/веб-приложений.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843"/>
                </a:solidFill>
              </a:defRPr>
            </a:pPr>
            <a:r>
              <a:t>💡 Перспектива развития: Индивидуальное наставничество и VIP-форматы с выходом на взрослую аудиторию.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Ключевые ресурсы и Ключевые действия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4A843"/>
                </a:solidFill>
              </a:defRPr>
            </a:pPr>
            <a:r>
              <a:t>🧩 Ключевые ресурсы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Команда проекта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3 куратора-преподавателя (ведут по 4 группы каждый) + 1 администратор.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Техническая база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Официальный сайт, надежный хостинг и интерактивное веб-приложение.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Методическая база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Уникальные авторские учебные программы с подходом 70% практики / 30% теории.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8A8A"/>
                </a:solidFill>
              </a:defRPr>
            </a:pPr>
            <a:r>
              <a:t>⚙️ Ключевые действия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Учебный процесс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Проведение интерактивных онлайн-занятий и подробная проверка домашних заданий.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Техническое сопровождение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Бесперебойная поддержка платформы и веб-сервисов.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Администрирование</a:t>
            </a:r>
          </a:p>
          <a:p>
            <a:pPr>
              <a:spcAft>
                <a:spcPts val="1000"/>
              </a:spcAft>
              <a:defRPr sz="1300">
                <a:solidFill>
                  <a:srgbClr val="AAB9CD"/>
                </a:solidFill>
              </a:defRPr>
            </a:pPr>
            <a:r>
              <a:t>Контроль оплат, ведение базы учеников и регулярная подготовка отчетов для родителей.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Ключевые партнёры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21031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43"/>
                </a:solidFill>
              </a:defRPr>
            </a:pPr>
            <a:r>
              <a:t>💳 Финансы &amp; Платежи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Kaspi Bank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Прием онлайн-платежей, удобный расчет для родителей через Kaspi Pay/QR.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45920"/>
            <a:ext cx="5212080" cy="21031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43"/>
                </a:solidFill>
              </a:defRPr>
            </a:pPr>
            <a:r>
              <a:t>🖥️ Инфраструктура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Хостинг-провайдеры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Обеспечение высокой доступности, быстрой загрузки и надежности веб-платформы.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12080" cy="21031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43"/>
                </a:solidFill>
              </a:defRPr>
            </a:pPr>
            <a:r>
              <a:t>🎓 Образование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Школы и вузы РК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Информационное сотрудничество, привлечение школьников и проведение совместных мероприятий.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095" y="4023360"/>
            <a:ext cx="5212080" cy="21031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43"/>
                </a:solidFill>
              </a:defRPr>
            </a:pPr>
            <a:r>
              <a:t>📣 Маркетинг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Рекламные площадки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t>Эффективное продвижение, таргетированная реклама и работа локальных промоутеров.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Структура расходов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4A843"/>
                </a:solidFill>
              </a:defRPr>
            </a:pPr>
            <a:r>
              <a:t>📅 Ежемесячные затраты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Зарплата кураторов (3 чел): 750 000 ₸</a:t>
            </a:r>
          </a:p>
          <a:p>
            <a:pPr>
              <a:spcAft>
                <a:spcPts val="600"/>
              </a:spcAft>
              <a:defRPr sz="1200">
                <a:solidFill>
                  <a:srgbClr val="AAB9CD"/>
                </a:solidFill>
              </a:defRPr>
            </a:pPr>
            <a:r>
              <a:t>   (3 × 250 000 ₸ в месяц)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Зарплата администратора: 280 000 ₸</a:t>
            </a:r>
          </a:p>
          <a:p>
            <a:pPr>
              <a:spcAft>
                <a:spcPts val="600"/>
              </a:spcAft>
              <a:defRPr sz="1200">
                <a:solidFill>
                  <a:srgbClr val="AAB9CD"/>
                </a:solidFill>
              </a:defRPr>
            </a:pPr>
            <a:r>
              <a:t>   (1 специалист)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Хостинг и серверы: 20 000 ₸</a:t>
            </a:r>
          </a:p>
          <a:p>
            <a:pPr>
              <a:spcAft>
                <a:spcPts val="600"/>
              </a:spcAft>
              <a:defRPr sz="1200">
                <a:solidFill>
                  <a:srgbClr val="AAB9CD"/>
                </a:solidFill>
              </a:defRPr>
            </a:pPr>
            <a:r>
              <a:t>   (Поддержка веб-инфраструктуры)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Реклама и промоутеры: 120 000 ₸</a:t>
            </a:r>
          </a:p>
          <a:p>
            <a:pPr>
              <a:spcAft>
                <a:spcPts val="600"/>
              </a:spcAft>
              <a:defRPr sz="1200">
                <a:solidFill>
                  <a:srgbClr val="AAB9CD"/>
                </a:solidFill>
              </a:defRPr>
            </a:pPr>
            <a:r>
              <a:t>   (Ежемесячный маркетинговый бюджет)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45920"/>
            <a:ext cx="5212080" cy="4572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8A8A"/>
                </a:solidFill>
              </a:defRPr>
            </a:pPr>
            <a:r>
              <a:t>⚡ Разовые расходы и Итого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Первичная реклама и старт: 300 000 ₸</a:t>
            </a:r>
          </a:p>
          <a:p>
            <a:pPr>
              <a:spcAft>
                <a:spcPts val="2000"/>
              </a:spcAft>
              <a:defRPr sz="1200">
                <a:solidFill>
                  <a:srgbClr val="AAB9CD"/>
                </a:solidFill>
              </a:defRPr>
            </a:pPr>
            <a:r>
              <a:t>   Стартовый маркетинг для первого набора учеников.</a:t>
            </a:r>
          </a:p>
          <a:p>
            <a:pPr>
              <a:defRPr sz="1400">
                <a:solidFill>
                  <a:srgbClr val="AAB9CD"/>
                </a:solidFill>
              </a:defRPr>
            </a:pPr>
            <a:r>
              <a:t>Итого постоянные расходы:</a:t>
            </a:r>
          </a:p>
          <a:p>
            <a:pPr>
              <a:defRPr sz="2400" b="1">
                <a:solidFill>
                  <a:srgbClr val="D4A843"/>
                </a:solidFill>
              </a:defRPr>
            </a:pPr>
            <a:r>
              <a:t>1 170 000 ₸ / месяц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Финансовые результаты за 5 месяцев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13455" cy="20116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843"/>
                </a:solidFill>
              </a:defRPr>
            </a:pPr>
            <a:r>
              <a:t>144 → 115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Студентов</a:t>
            </a:r>
          </a:p>
          <a:p>
            <a:pPr>
              <a:defRPr sz="1100">
                <a:solidFill>
                  <a:srgbClr val="AAB9CD"/>
                </a:solidFill>
              </a:defRPr>
            </a:pPr>
            <a:r>
              <a:t>Плановый набор 144 места, с учетом 20% отвала фактически обучаются 115 человек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13455" cy="20116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843"/>
                </a:solidFill>
              </a:defRPr>
            </a:pPr>
            <a:r>
              <a:t>11 649 000 ₸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Общий доход</a:t>
            </a:r>
          </a:p>
          <a:p>
            <a:pPr>
              <a:defRPr sz="1100">
                <a:solidFill>
                  <a:srgbClr val="AAB9CD"/>
                </a:solidFill>
              </a:defRPr>
            </a:pPr>
            <a:r>
              <a:t>Совокупный финансовый поток от подписок за 5 месяцев работы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413455" cy="201168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843"/>
                </a:solidFill>
              </a:defRPr>
            </a:pPr>
            <a:r>
              <a:t>5 551 915 ₸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Чистая прибыль</a:t>
            </a:r>
          </a:p>
          <a:p>
            <a:pPr>
              <a:defRPr sz="1100">
                <a:solidFill>
                  <a:srgbClr val="AAB9CD"/>
                </a:solidFill>
              </a:defRPr>
            </a:pPr>
            <a:r>
              <a:t>С учетом всех расходов и налога ИП 4% с оборота (расходы: 6 097 085 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8A8A"/>
                </a:solidFill>
              </a:defRPr>
            </a:pPr>
            <a:r>
              <a:t>⚡ Высокая окупаемость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Проект самоокупаем с первого месяца!</a:t>
            </a:r>
            <a:br/>
            <a:r>
              <a:t>Доход 1-го месяца составляет 2,6 млн ₸, что полностью покрывает расходы и приносит &gt;1,1 млн ₸ чистой прибыли.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095" y="3931920"/>
            <a:ext cx="5212080" cy="228600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4A843"/>
                </a:solidFill>
              </a:defRPr>
            </a:pPr>
            <a:r>
              <a:t>💼 Стартовый капитал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Для запуска не требуется привлекать заемные средства или кредиты.</a:t>
            </a:r>
            <a:br/>
            <a:r>
              <a:t>Стартовый капитал в размере 1 500 000 ₸ формируется команда самостоятельно.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843"/>
                </a:solidFill>
                <a:latin typeface="Arial"/>
              </a:defRPr>
            </a:pPr>
            <a:r>
              <a:t>БИЗНЕС-МОДЕЛЬ «СИНТАКСИС»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Заключение и Перспективы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2233C"/>
          </a:solidFill>
          <a:ln w="1270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313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D4A843"/>
                </a:solidFill>
              </a:defRPr>
            </a:pPr>
            <a:r>
              <a:t>📌 Главный итог</a:t>
            </a:r>
          </a:p>
          <a:p>
            <a:pPr>
              <a:spcAft>
                <a:spcPts val="2400"/>
              </a:spcAft>
              <a:defRPr sz="1600">
                <a:solidFill>
                  <a:srgbClr val="F5F7FA"/>
                </a:solidFill>
              </a:defRPr>
            </a:pPr>
            <a:r>
              <a:t>Начав с аудитории 10–18 лет и заручившись поддержкой школ и вузов Казахстана, мы создаем прочный фундамент для последующего выхода на рынок взрослого образования и обучения практической работе с искусственным интеллектом.</a:t>
            </a:r>
          </a:p>
          <a:p>
            <a:pPr algn="ctr">
              <a:defRPr sz="3200" b="1">
                <a:solidFill>
                  <a:srgbClr val="1A8A8A"/>
                </a:solidFill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