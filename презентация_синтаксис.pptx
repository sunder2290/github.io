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448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843"/>
                </a:solidFill>
              </a:defRPr>
            </a:pPr>
            <a:r>
              <a:t>Министерство просвещения РК | Управление образования области Улытау</a:t>
            </a:r>
            <a:br/>
            <a:r>
              <a:t>КГКП «Жезказганский высший политехнический колледж»</a:t>
            </a:r>
          </a:p>
          <a:p>
            <a:pPr>
              <a:spcAft>
                <a:spcPts val="1800"/>
              </a:spcAft>
              <a:defRPr sz="1300">
                <a:solidFill>
                  <a:srgbClr val="AAB9CD"/>
                </a:solidFill>
              </a:defRPr>
            </a:pPr>
            <a:r>
              <a:t>Специальность: Программное обеспечение</a:t>
            </a:r>
          </a:p>
          <a:p>
            <a:pPr>
              <a:spcAft>
                <a:spcPts val="2400"/>
              </a:spcAft>
              <a:defRPr sz="2800" b="1">
                <a:solidFill>
                  <a:srgbClr val="FFFFFF"/>
                </a:solidFill>
              </a:defRPr>
            </a:pPr>
            <a:r>
              <a:t>Бизнес модель «Онлайн школа по программированию-Синтаксис»</a:t>
            </a:r>
          </a:p>
          <a:p>
            <a:pPr>
              <a:spcAft>
                <a:spcPts val="1400"/>
              </a:spcAft>
              <a:defRPr sz="1400">
                <a:solidFill>
                  <a:srgbClr val="F5F7FA"/>
                </a:solidFill>
              </a:defRPr>
            </a:pPr>
            <a:r>
              <a:t>Выполнили: студенты группы ПО-32</a:t>
            </a:r>
            <a:br/>
            <a:r>
              <a:t>Церр Данил, Деревянко Илья, Захарко Ильяс, Рахимбаева Назгуль</a:t>
            </a:r>
          </a:p>
          <a:p>
            <a:pPr>
              <a:defRPr sz="1300">
                <a:solidFill>
                  <a:srgbClr val="1A8A8A"/>
                </a:solidFill>
              </a:defRPr>
            </a:pPr>
            <a:r>
              <a:t>Проверила: преподаватель Айтжанова А. А.</a:t>
            </a:r>
            <a:br/>
            <a:r>
              <a:t>Жезказган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Ключевые ценности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8686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843"/>
                </a:solidFill>
              </a:defRPr>
            </a:pPr>
            <a:r>
              <a:t>💳 Гибкая система оплаты</a:t>
            </a:r>
          </a:p>
          <a:p>
            <a:pPr>
              <a:defRPr sz="1300">
                <a:solidFill>
                  <a:srgbClr val="F5F7FA"/>
                </a:solidFill>
              </a:defRPr>
            </a:pPr>
            <a:r>
              <a:t>В виде ежемесячной или разовой подписки.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50592"/>
            <a:ext cx="10728655" cy="8686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843"/>
                </a:solidFill>
              </a:defRPr>
            </a:pPr>
            <a:r>
              <a:t>🔍 Полная прозрачность обучения</a:t>
            </a:r>
          </a:p>
          <a:p>
            <a:pPr>
              <a:defRPr sz="1300">
                <a:solidFill>
                  <a:srgbClr val="F5F7FA"/>
                </a:solidFill>
              </a:defRPr>
            </a:pPr>
            <a:r>
              <a:t>Честный подход без ложных обещаний «легкого программирования».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38144"/>
            <a:ext cx="10728655" cy="8686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29584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843"/>
                </a:solidFill>
              </a:defRPr>
            </a:pPr>
            <a:r>
              <a:t>💻 Акцент на практику</a:t>
            </a:r>
          </a:p>
          <a:p>
            <a:pPr>
              <a:defRPr sz="1300">
                <a:solidFill>
                  <a:srgbClr val="F5F7FA"/>
                </a:solidFill>
              </a:defRPr>
            </a:pPr>
            <a:r>
              <a:t>Упор на практические навыки (70% практики / 30% теории) в программе.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425696"/>
            <a:ext cx="10728655" cy="8686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17136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843"/>
                </a:solidFill>
              </a:defRPr>
            </a:pPr>
            <a:r>
              <a:t>🏆 Мотивация и Хакатоны</a:t>
            </a:r>
          </a:p>
          <a:p>
            <a:pPr>
              <a:defRPr sz="1300">
                <a:solidFill>
                  <a:srgbClr val="F5F7FA"/>
                </a:solidFill>
              </a:defRPr>
            </a:pPr>
            <a:r>
              <a:t>Мотивация студентов проверять полученные знания в различных «Хакатонах».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413248"/>
            <a:ext cx="10728655" cy="8686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504688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843"/>
                </a:solidFill>
              </a:defRPr>
            </a:pPr>
            <a:r>
              <a:t>📜 Подлинные сертификаты</a:t>
            </a:r>
          </a:p>
          <a:p>
            <a:pPr>
              <a:defRPr sz="1300">
                <a:solidFill>
                  <a:srgbClr val="F5F7FA"/>
                </a:solidFill>
              </a:defRPr>
            </a:pPr>
            <a:r>
              <a:t>Выдача официального документа об окончании с проверкой подлинности через QR-код.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Сегменты потребителей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D4A843"/>
                </a:solidFill>
              </a:defRPr>
            </a:pPr>
            <a:r>
              <a:t>🎯 На старте проекта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• Дети и подростки от 10 до 18 лет</a:t>
            </a:r>
          </a:p>
          <a:p>
            <a:pPr>
              <a:spcAft>
                <a:spcPts val="1400"/>
              </a:spcAft>
              <a:defRPr sz="1300">
                <a:solidFill>
                  <a:srgbClr val="AAB9CD"/>
                </a:solidFill>
              </a:defRPr>
            </a:pPr>
            <a:r>
              <a:t>Основная аудитория учеников, стремящихся научиться программированию и цифровой грамотности.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• Их родители</a:t>
            </a:r>
          </a:p>
          <a:p>
            <a:pPr>
              <a:spcAft>
                <a:spcPts val="1400"/>
              </a:spcAft>
              <a:defRPr sz="1300">
                <a:solidFill>
                  <a:srgbClr val="AAB9CD"/>
                </a:solidFill>
              </a:defRPr>
            </a:pPr>
            <a:r>
              <a:t>Заинтересованы в полезном досуге и будущей профессии ребенка.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8095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17373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A8A8A"/>
                </a:solidFill>
              </a:defRPr>
            </a:pPr>
            <a:r>
              <a:t>🚀 Стратегический план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• Курсы для взрослой аудитории</a:t>
            </a:r>
          </a:p>
          <a:p>
            <a:pPr>
              <a:spcAft>
                <a:spcPts val="1400"/>
              </a:spcAft>
              <a:defRPr sz="1300">
                <a:solidFill>
                  <a:srgbClr val="AAB9CD"/>
                </a:solidFill>
              </a:defRPr>
            </a:pPr>
            <a:r>
              <a:t>При масштабировании проекта — помощь тем, кому нужна смена специальности.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• Грамотность в работе с ИИ</a:t>
            </a:r>
          </a:p>
          <a:p>
            <a:pPr>
              <a:spcAft>
                <a:spcPts val="1400"/>
              </a:spcAft>
              <a:defRPr sz="1300">
                <a:solidFill>
                  <a:srgbClr val="AAB9CD"/>
                </a:solidFill>
              </a:defRPr>
            </a:pPr>
            <a:r>
              <a:t>Обучение работе с искусственным интеллектом для взрослых и специалистов.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Каналы взаимодействия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843"/>
                </a:solidFill>
              </a:defRPr>
            </a:pPr>
            <a:r>
              <a:t>🎧 Discord</a:t>
            </a:r>
          </a:p>
          <a:p>
            <a:pPr>
              <a:spcAft>
                <a:spcPts val="600"/>
              </a:spcAft>
              <a:defRPr sz="1200" b="1">
                <a:solidFill>
                  <a:srgbClr val="1A8A8A"/>
                </a:solidFill>
              </a:defRPr>
            </a:pPr>
            <a:r>
              <a:t>Уроки &amp; Демонстрация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Платформа с удобными функциями и голосовыми чатами для проведения онлайн-уроков, демонстрации экрана наставнику в хорошем качестве — абсолютно необходимая функция для работы.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8095" y="146304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6695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843"/>
                </a:solidFill>
              </a:defRPr>
            </a:pPr>
            <a:r>
              <a:t>📱 Instagram, Telegram, TikTok</a:t>
            </a:r>
          </a:p>
          <a:p>
            <a:pPr>
              <a:spcAft>
                <a:spcPts val="600"/>
              </a:spcAft>
              <a:defRPr sz="1200" b="1">
                <a:solidFill>
                  <a:srgbClr val="1A8A8A"/>
                </a:solidFill>
              </a:defRPr>
            </a:pPr>
            <a:r>
              <a:t>Продвижение &amp; Реклама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Площадки с высокой концентрацией молодой и взрослой аудитории, где проще всего разместить рекламу и привлечь целевой интерес.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843"/>
                </a:solidFill>
              </a:defRPr>
            </a:pPr>
            <a:r>
              <a:t>🏫 Школы Казахстана</a:t>
            </a:r>
          </a:p>
          <a:p>
            <a:pPr>
              <a:spcAft>
                <a:spcPts val="600"/>
              </a:spcAft>
              <a:defRPr sz="1200" b="1">
                <a:solidFill>
                  <a:srgbClr val="1A8A8A"/>
                </a:solidFill>
              </a:defRPr>
            </a:pPr>
            <a:r>
              <a:t>Сотрудничество &amp; Продвижение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Партнерство со школами, так как подростки ищут возможности обучиться актуальному программированию взамен устаревших программ конкуррентов.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8095" y="393192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6695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843"/>
                </a:solidFill>
              </a:defRPr>
            </a:pPr>
            <a:r>
              <a:t>🚶‍♂️ Промоутеры</a:t>
            </a:r>
          </a:p>
          <a:p>
            <a:pPr>
              <a:spcAft>
                <a:spcPts val="600"/>
              </a:spcAft>
              <a:defRPr sz="1200" b="1">
                <a:solidFill>
                  <a:srgbClr val="1A8A8A"/>
                </a:solidFill>
              </a:defRPr>
            </a:pPr>
            <a:r>
              <a:t>Офлайн-активность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Работа промоутеров для локального распространения информации и прямого привлечения.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Отношения с клиентами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D4A843"/>
                </a:solidFill>
              </a:defRPr>
            </a:pPr>
            <a:r>
              <a:t>🎯 Принципы честности и доверия (Против избитых штампов)</a:t>
            </a:r>
          </a:p>
          <a:p>
            <a:pPr>
              <a:spcAft>
                <a:spcPts val="1600"/>
              </a:spcAft>
              <a:defRPr sz="1300">
                <a:solidFill>
                  <a:srgbClr val="AAB9CD"/>
                </a:solidFill>
              </a:defRPr>
            </a:pPr>
            <a:r>
              <a:t>«Мы не используем громкие обещания вроде "Профессия будущего" или "Гарантированное трудоустройство" — в большинстве случаев это обман. Программирование — это сложно, но мы стремимся максимально упростить сложное и предоставить настоящие навыки.»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Основные механизмы удержания и контроля:</a:t>
            </a:r>
          </a:p>
          <a:p>
            <a:pPr>
              <a:spcAft>
                <a:spcPts val="400"/>
              </a:spcAft>
              <a:defRPr sz="1300">
                <a:solidFill>
                  <a:srgbClr val="F5F7FA"/>
                </a:solidFill>
              </a:defRPr>
            </a:pPr>
            <a:r>
              <a:t>• Геймификация и интерактив для удержания внимания детей.</a:t>
            </a:r>
          </a:p>
          <a:p>
            <a:pPr>
              <a:spcAft>
                <a:spcPts val="400"/>
              </a:spcAft>
              <a:defRPr sz="1300">
                <a:solidFill>
                  <a:srgbClr val="F5F7FA"/>
                </a:solidFill>
              </a:defRPr>
            </a:pPr>
            <a:r>
              <a:t>• Ежемесячные отчеты родителям об успеваемости и прогрессе ребенка.</a:t>
            </a:r>
          </a:p>
          <a:p>
            <a:pPr>
              <a:spcAft>
                <a:spcPts val="400"/>
              </a:spcAft>
              <a:defRPr sz="1300">
                <a:solidFill>
                  <a:srgbClr val="F5F7FA"/>
                </a:solidFill>
              </a:defRPr>
            </a:pPr>
            <a:r>
              <a:t>• Контроль всего процесса обучения.</a:t>
            </a:r>
          </a:p>
          <a:p>
            <a:pPr>
              <a:spcAft>
                <a:spcPts val="400"/>
              </a:spcAft>
              <a:defRPr sz="1300">
                <a:solidFill>
                  <a:srgbClr val="F5F7FA"/>
                </a:solidFill>
              </a:defRPr>
            </a:pPr>
            <a:r>
              <a:t>• Предоставление официального документа (сертификата) с проверкой подлинности по QR-коду.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Потоки дохода и Расчет выручки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413455" cy="329184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476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Frontend Junior</a:t>
            </a:r>
          </a:p>
          <a:p>
            <a:pPr>
              <a:spcAft>
                <a:spcPts val="400"/>
              </a:spcAft>
              <a:defRPr sz="2000" b="1">
                <a:solidFill>
                  <a:srgbClr val="D4A843"/>
                </a:solidFill>
              </a:defRPr>
            </a:pPr>
            <a:r>
              <a:t>23 000 ₸ / мес</a:t>
            </a:r>
          </a:p>
          <a:p>
            <a:pPr>
              <a:spcAft>
                <a:spcPts val="1000"/>
              </a:spcAft>
              <a:defRPr sz="1200">
                <a:solidFill>
                  <a:srgbClr val="1A8A8A"/>
                </a:solidFill>
              </a:defRPr>
            </a:pPr>
            <a:r>
              <a:t>4 месяца обучения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Расчет:</a:t>
            </a:r>
            <a:br/>
            <a:r>
              <a:t>23 000 ₸ × 12 чел × 4 гр - 10% = 993 600 ₸ / мес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463040"/>
            <a:ext cx="3413455" cy="329184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476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UI/UX Дизайн</a:t>
            </a:r>
          </a:p>
          <a:p>
            <a:pPr>
              <a:spcAft>
                <a:spcPts val="400"/>
              </a:spcAft>
              <a:defRPr sz="2000" b="1">
                <a:solidFill>
                  <a:srgbClr val="D4A843"/>
                </a:solidFill>
              </a:defRPr>
            </a:pPr>
            <a:r>
              <a:t>19 000 ₸ / мес</a:t>
            </a:r>
          </a:p>
          <a:p>
            <a:pPr>
              <a:spcAft>
                <a:spcPts val="1000"/>
              </a:spcAft>
              <a:defRPr sz="1200">
                <a:solidFill>
                  <a:srgbClr val="1A8A8A"/>
                </a:solidFill>
              </a:defRPr>
            </a:pPr>
            <a:r>
              <a:t>4 месяца обучения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Расчет:</a:t>
            </a:r>
            <a:br/>
            <a:r>
              <a:t>19 000 ₸ × 12 чел × 4 гр - 10% = 820 800 ₸ / мес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463040"/>
            <a:ext cx="3413455" cy="329184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476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Основы Python</a:t>
            </a:r>
          </a:p>
          <a:p>
            <a:pPr>
              <a:spcAft>
                <a:spcPts val="400"/>
              </a:spcAft>
              <a:defRPr sz="2000" b="1">
                <a:solidFill>
                  <a:srgbClr val="D4A843"/>
                </a:solidFill>
              </a:defRPr>
            </a:pPr>
            <a:r>
              <a:t>27 000 ₸ / мес</a:t>
            </a:r>
          </a:p>
          <a:p>
            <a:pPr>
              <a:spcAft>
                <a:spcPts val="1000"/>
              </a:spcAft>
              <a:defRPr sz="1200">
                <a:solidFill>
                  <a:srgbClr val="1A8A8A"/>
                </a:solidFill>
              </a:defRPr>
            </a:pPr>
            <a:r>
              <a:t>5 месяцев обучения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Расчет:</a:t>
            </a:r>
            <a:br/>
            <a:r>
              <a:t>27 000 ₸ × 12 чел × 4 гр - 10% = 1 166 400 ₸ / мес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92040"/>
            <a:ext cx="10728655" cy="13716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98348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843"/>
                </a:solidFill>
              </a:defRPr>
            </a:pPr>
            <a:r>
              <a:t>💰 Итого суммарный доход в месяц: 2 980 800 ₸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• Скидки: 10% при разовой оплате всего курса | 20% реферальный промокод выпускника для знакомых на 1-й месяц.</a:t>
            </a:r>
            <a:br/>
            <a:r>
              <a:t>• Перспектива: Индивидуальное наставничество при масштабировании на взрослую аудиторию.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Ключевые ресурсы &amp; 7. Ключевые действия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4A843"/>
                </a:solidFill>
              </a:defRPr>
            </a:pPr>
            <a:r>
              <a:t>🧩 Ключевые ресурсы</a:t>
            </a:r>
          </a:p>
          <a:p>
            <a:pPr>
              <a:spcAft>
                <a:spcPts val="800"/>
              </a:spcAft>
              <a:defRPr sz="1200">
                <a:solidFill>
                  <a:srgbClr val="F5F7FA"/>
                </a:solidFill>
              </a:defRPr>
            </a:pPr>
            <a:r>
              <a:t>• Команда: 3 куратора-преподавателя (ведут по 4 группы) + 1 администратор.</a:t>
            </a:r>
          </a:p>
          <a:p>
            <a:pPr>
              <a:spcAft>
                <a:spcPts val="800"/>
              </a:spcAft>
              <a:defRPr sz="1200">
                <a:solidFill>
                  <a:srgbClr val="F5F7FA"/>
                </a:solidFill>
              </a:defRPr>
            </a:pPr>
            <a:r>
              <a:t>• Техническая база: Сайт, хостинг, веб-приложение, Телеграм бот.</a:t>
            </a:r>
          </a:p>
          <a:p>
            <a:pPr>
              <a:spcAft>
                <a:spcPts val="800"/>
              </a:spcAft>
              <a:defRPr sz="1200">
                <a:solidFill>
                  <a:srgbClr val="F5F7FA"/>
                </a:solidFill>
              </a:defRPr>
            </a:pPr>
            <a:r>
              <a:t>• Методическая база: Уникальные учебные программы (70% практика / 30% теория), хакатоны и мероприятия.</a:t>
            </a:r>
          </a:p>
          <a:p>
            <a:pPr>
              <a:spcAft>
                <a:spcPts val="800"/>
              </a:spcAft>
              <a:defRPr sz="1200">
                <a:solidFill>
                  <a:srgbClr val="F5F7FA"/>
                </a:solidFill>
              </a:defRPr>
            </a:pPr>
            <a:r>
              <a:t>• При масштабировании: Найм преподавателей и SMM-специалистов (на старте реклама ведется администратором).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8095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1A8A8A"/>
                </a:solidFill>
              </a:defRPr>
            </a:pPr>
            <a:r>
              <a:t>⚙️ Ключевые действия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Заработок стартового капитала на фриланс-проектах группой.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Создание полной программы обучения и загрузка на платформу.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Регистрация проекта как ИП по упрощёнке.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Проведение маркетинговой кампании.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Административная работа, контроль оплат и отчеты родителям.</a:t>
            </a:r>
          </a:p>
          <a:p>
            <a:pPr>
              <a:spcAft>
                <a:spcPts val="600"/>
              </a:spcAft>
              <a:defRPr sz="1200">
                <a:solidFill>
                  <a:srgbClr val="F5F7FA"/>
                </a:solidFill>
              </a:defRPr>
            </a:pPr>
            <a:r>
              <a:t>• Организация соревнований и хакатонов для ровесников.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8. Ключевые партнёры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843"/>
                </a:solidFill>
              </a:defRPr>
            </a:pPr>
            <a:r>
              <a:t>🖥️ Инфраструктура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</a:defRPr>
            </a:pPr>
            <a:r>
              <a:t>Хостинг-провайдеры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Обеспечение стабильной работы веб-сайта, платформы обучения и Телеграм-бота.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8095" y="146304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6695" y="16459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843"/>
                </a:solidFill>
              </a:defRPr>
            </a:pPr>
            <a:r>
              <a:t>🎓 Образование &amp; Продвижение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</a:defRPr>
            </a:pPr>
            <a:r>
              <a:t>Школы Казахстана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Привлечение школьников и проведение совместных открытых уроков и цифровой грамотности.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843"/>
                </a:solidFill>
              </a:defRPr>
            </a:pPr>
            <a:r>
              <a:t>📣 Инфлюенсеры &amp; Маркетинг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</a:defRPr>
            </a:pPr>
            <a:r>
              <a:t>Instagram &amp; Telegram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Сотрудничество с инфлюенсерами, рекламными площадками и работа промоутеров.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8095" y="3931920"/>
            <a:ext cx="5212080" cy="228600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6695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4A843"/>
                </a:solidFill>
              </a:defRPr>
            </a:pPr>
            <a:r>
              <a:t>🤝 Партнерство с онлайн-школами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</a:defRPr>
            </a:pPr>
            <a:r>
              <a:t>Коллаборации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Возможно сотрудничество с другими онлайн-школами, дополняющими наши курсы.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9. Структура расходов и Расчет прибыли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4A843"/>
                </a:solidFill>
              </a:defRPr>
            </a:pPr>
            <a:r>
              <a:t>📋 Ежемесячные затраты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Зарплата кураторов (3 чел): 750 000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(3 × 250 000 ₸)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Зарплата администратора: 280 000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(1 администратор)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Хостинг: 20 000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(Поддержка сайта)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Буст Discord сервера: 17 000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(Улучшение качества связи)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Реклама и промоутеры: 300 000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(Маркетинговый бюджет)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Подоходный налог (ИП 4%): 119 300 ₸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   (4% от дохода 2 980 800 ₸)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8095" y="1463040"/>
            <a:ext cx="5212080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A8A8A"/>
                </a:solidFill>
              </a:defRPr>
            </a:pPr>
            <a:r>
              <a:t>💵 Расчет чистой прибыли</a:t>
            </a:r>
          </a:p>
          <a:p>
            <a:pPr>
              <a:spcAft>
                <a:spcPts val="600"/>
              </a:spcAft>
              <a:defRPr sz="1100">
                <a:solidFill>
                  <a:srgbClr val="AAB9CD"/>
                </a:solidFill>
              </a:defRPr>
            </a:pPr>
            <a:r>
              <a:t>2 980 800 − 119 300 − 750 000 − 280 000 − 20 000 − 17 000 − 300 000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Чистая прибыль в месяц:</a:t>
            </a:r>
          </a:p>
          <a:p>
            <a:pPr>
              <a:spcAft>
                <a:spcPts val="1600"/>
              </a:spcAft>
              <a:defRPr sz="2800" b="1">
                <a:solidFill>
                  <a:srgbClr val="D4A843"/>
                </a:solidFill>
              </a:defRPr>
            </a:pPr>
            <a:r>
              <a:t>1 494 500 ₸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💼 Стартовый капитал:</a:t>
            </a:r>
          </a:p>
          <a:p>
            <a:pPr>
              <a:defRPr sz="1200">
                <a:solidFill>
                  <a:srgbClr val="F5F7FA"/>
                </a:solidFill>
              </a:defRPr>
            </a:pPr>
            <a:r>
              <a:t>• Для запуска не требуется кредит.</a:t>
            </a:r>
            <a:br/>
            <a:r>
              <a:t>• Стартовый капитал в 1 500 000 ₸ формируется самостоятельно в течение полугода путем заработка на фриланс-биржах.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843"/>
                </a:solidFill>
              </a:defRPr>
            </a:pPr>
            <a:r>
              <a:t>БИЗНЕС-МОДЕЛЬ «СИНТАКСИС»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10362895" cy="4754880"/>
          </a:xfrm>
          <a:prstGeom prst="rect">
            <a:avLst/>
          </a:prstGeom>
          <a:solidFill>
            <a:srgbClr val="12233C"/>
          </a:solidFill>
          <a:ln w="12700">
            <a:solidFill>
              <a:srgbClr val="233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3137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D4A843"/>
                </a:solidFill>
              </a:defRPr>
            </a:pPr>
            <a:r>
              <a:t>📌 Подводя итог</a:t>
            </a:r>
          </a:p>
          <a:p>
            <a:pPr>
              <a:spcAft>
                <a:spcPts val="3600"/>
              </a:spcAft>
              <a:defRPr sz="1800">
                <a:solidFill>
                  <a:srgbClr val="F5F7FA"/>
                </a:solidFill>
              </a:defRPr>
            </a:pPr>
            <a:r>
              <a:t>При правильном выполнении указанных шагов, этот бизнес-проект вполне рентабелен и имеет высокий потенциал для успешного запуска и дальнейшего масштабирования.</a:t>
            </a:r>
          </a:p>
          <a:p>
            <a:pPr algn="ctr">
              <a:defRPr sz="3600" b="1">
                <a:solidFill>
                  <a:srgbClr val="1A8A8A"/>
                </a:solidFill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